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Noto Sans Mono"/>
      <p:regular r:id="rId17"/>
      <p:bold r:id="rId18"/>
    </p:embeddedFon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7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No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Mon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-regular.fntdata"/><Relationship Id="rId6" Type="http://schemas.openxmlformats.org/officeDocument/2006/relationships/slide" Target="slides/slide2.xml"/><Relationship Id="rId18" Type="http://schemas.openxmlformats.org/officeDocument/2006/relationships/font" Target="fonts/NotoSans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6472f3d3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6472f3d3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6472f3d3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" y="1417325"/>
            <a:ext cx="487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Noto Sans"/>
              <a:buNone/>
            </a:pPr>
            <a:r>
              <a:rPr b="1" lang="en-US" sz="4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NeoConsultant</a:t>
            </a:r>
            <a:endParaRPr b="0" i="0" sz="4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13232" y="214884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7FF"/>
              </a:buClr>
              <a:buSzPts val="2500"/>
              <a:buFont typeface="Noto Sans"/>
              <a:buNone/>
            </a:pPr>
            <a:r>
              <a:rPr b="0" i="0" lang="en-US" sz="2500" u="none" cap="none" strike="noStrike">
                <a:solidFill>
                  <a:srgbClr val="B9D7FF"/>
                </a:solidFill>
                <a:latin typeface="Noto Sans"/>
                <a:ea typeface="Noto Sans"/>
                <a:cs typeface="Noto Sans"/>
                <a:sym typeface="Noto Sans"/>
              </a:rPr>
              <a:t>MCP + LLM Agent MVP</a:t>
            </a:r>
            <a:endParaRPr b="0" i="0" sz="2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49808" y="2880360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一个无需前端的股票研究 Agent 项目：用 MCP 封装数据与工具，用 LLM Agent 生成可追溯、可审计的结构化研究报告。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49808" y="4251960"/>
            <a:ext cx="1417320" cy="329184"/>
          </a:xfrm>
          <a:prstGeom prst="rect">
            <a:avLst/>
          </a:prstGeom>
          <a:solidFill>
            <a:srgbClr val="213B52"/>
          </a:solidFill>
          <a:ln cap="flat" cmpd="sng" w="9525">
            <a:solidFill>
              <a:srgbClr val="213B5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E5F0FF"/>
                </a:solidFill>
                <a:latin typeface="Noto Sans"/>
                <a:ea typeface="Noto Sans"/>
                <a:cs typeface="Noto Sans"/>
                <a:sym typeface="Noto Sans"/>
              </a:rPr>
              <a:t>MCP Server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359152" y="4251960"/>
            <a:ext cx="1737360" cy="329184"/>
          </a:xfrm>
          <a:prstGeom prst="rect">
            <a:avLst/>
          </a:prstGeom>
          <a:solidFill>
            <a:srgbClr val="213B52"/>
          </a:solidFill>
          <a:ln cap="flat" cmpd="sng" w="9525">
            <a:solidFill>
              <a:srgbClr val="213B5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E5F0FF"/>
                </a:solidFill>
                <a:latin typeface="Noto Sans"/>
                <a:ea typeface="Noto Sans"/>
                <a:cs typeface="Noto Sans"/>
                <a:sym typeface="Noto Sans"/>
              </a:rPr>
              <a:t>LangGraph Agent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288536" y="4251960"/>
            <a:ext cx="1828800" cy="329184"/>
          </a:xfrm>
          <a:prstGeom prst="rect">
            <a:avLst/>
          </a:prstGeom>
          <a:solidFill>
            <a:srgbClr val="213B52"/>
          </a:solidFill>
          <a:ln cap="flat" cmpd="sng" w="9525">
            <a:solidFill>
              <a:srgbClr val="213B5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E5F0FF"/>
                </a:solidFill>
                <a:latin typeface="Noto Sans"/>
                <a:ea typeface="Noto Sans"/>
                <a:cs typeface="Noto Sans"/>
                <a:sym typeface="Noto Sans"/>
              </a:rPr>
              <a:t>Evidence Tracking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309360" y="4251960"/>
            <a:ext cx="1600200" cy="329184"/>
          </a:xfrm>
          <a:prstGeom prst="rect">
            <a:avLst/>
          </a:prstGeom>
          <a:solidFill>
            <a:srgbClr val="213B52"/>
          </a:solidFill>
          <a:ln cap="flat" cmpd="sng" w="9525">
            <a:solidFill>
              <a:srgbClr val="213B5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F0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E5F0FF"/>
                </a:solidFill>
                <a:latin typeface="Noto Sans"/>
                <a:ea typeface="Noto Sans"/>
                <a:cs typeface="Noto Sans"/>
                <a:sym typeface="Noto Sans"/>
              </a:rPr>
              <a:t>Resume Project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8096" y="623620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4B8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93A4B8"/>
                </a:solidFill>
                <a:latin typeface="Noto Sans"/>
                <a:ea typeface="Noto Sans"/>
                <a:cs typeface="Noto Sans"/>
                <a:sym typeface="Noto Sans"/>
              </a:rPr>
              <a:t>Project design deck · backend / AI infrastructure focused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项目范围：先不做前端，先做“可证明能力”的 Agent 核心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目标是让简历展示：数据工程 + MCP 工具封装 + Agent orchestration + 结构化输出 + 评估。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2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58368" y="1417320"/>
            <a:ext cx="2331720" cy="475488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输入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68096" y="2029968"/>
            <a:ext cx="2112264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Ticker，例如 AAPL / MSFT / NVDA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用户只需通过 CLI 或未来 API 触发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447288" y="1417320"/>
            <a:ext cx="2331720" cy="475488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处理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557016" y="2029968"/>
            <a:ext cx="2112264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tools 拉取价格、新闻、SEC facts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Python 计算 momentum / risk 等确定性指标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36208" y="1417320"/>
            <a:ext cx="2331720" cy="475488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推理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345936" y="2029968"/>
            <a:ext cx="2112264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Research Agent 先写报告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Critic Agent 检查 unsupported claims / numeric errors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025128" y="1417320"/>
            <a:ext cx="2331720" cy="475488"/>
          </a:xfrm>
          <a:prstGeom prst="rect">
            <a:avLst/>
          </a:prstGeom>
          <a:solidFill>
            <a:srgbClr val="ECEBFF"/>
          </a:solidFill>
          <a:ln cap="flat" cmpd="sng" w="9525">
            <a:solidFill>
              <a:srgbClr val="E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输出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34856" y="2029968"/>
            <a:ext cx="2112264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结构化 JSON research report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含 score、classification、risks、citations、disclaimer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852928" y="1655064"/>
            <a:ext cx="393192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" name="Google Shape;42;p4"/>
          <p:cNvCxnSpPr/>
          <p:nvPr/>
        </p:nvCxnSpPr>
        <p:spPr>
          <a:xfrm>
            <a:off x="5641848" y="1655064"/>
            <a:ext cx="393192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" name="Google Shape;43;p4"/>
          <p:cNvCxnSpPr/>
          <p:nvPr/>
        </p:nvCxnSpPr>
        <p:spPr>
          <a:xfrm>
            <a:off x="8430768" y="1655064"/>
            <a:ext cx="393192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p4"/>
          <p:cNvSpPr/>
          <p:nvPr/>
        </p:nvSpPr>
        <p:spPr>
          <a:xfrm>
            <a:off x="685800" y="3886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2F80ED"/>
                </a:solidFill>
                <a:latin typeface="Noto Sans"/>
                <a:ea typeface="Noto Sans"/>
                <a:cs typeface="Noto Sans"/>
                <a:sym typeface="Noto Sans"/>
              </a:rPr>
              <a:t>为什么这对简历有用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31520" y="425196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不是普通“股票聊天机器人”：核心是 evidence-grounded research system。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把外部数据、计算逻辑和 LLM 推理解耦，展示工程架构能力。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Critic + structured output 能证明候选人理解可靠性、幻觉控制和产品边界。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后续可以很自然扩展为 GitHub Pages dashboard、FastAPI backend 或 batch watchlist。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3036" y="-1653700"/>
            <a:ext cx="12475027" cy="935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输入 / 输出例子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当前 MVP 用命令行运行，最终输出为可直接持久化、测试和展示的 JSON。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3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58368" y="1325880"/>
            <a:ext cx="3017520" cy="420624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Input: CLI 命令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85800" y="1901952"/>
            <a:ext cx="2971800" cy="713232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Noto Sans Mono"/>
              <a:buNone/>
            </a:pPr>
            <a:r>
              <a:rPr lang="en-US" sz="13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uv run finsight AAPL \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Noto Sans Mono"/>
              <a:buNone/>
            </a:pPr>
            <a:r>
              <a:rPr lang="en-US" sz="13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--output output/aapl.json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160520" y="1325880"/>
            <a:ext cx="3200400" cy="420624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Output: StockResearchReport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661654" y="1746499"/>
            <a:ext cx="4868400" cy="4697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{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"ticker": "AAPL",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"overall_score": 72,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"classification": "neutral_monitor",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"confidence": "medium",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"summary": "...",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"catalysts": ["..."],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"risks": ["..."],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"citations": [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{"evidence_id": "TECH-001", "claim": "..."}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],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"disclaimer": "Educational research only..."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Noto Sans Mono"/>
              <a:buNone/>
            </a:pPr>
            <a:r>
              <a:rPr lang="en-US" sz="9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}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321040" y="1325880"/>
            <a:ext cx="2971800" cy="420624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核心约束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366760" y="1920240"/>
            <a:ext cx="2788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输出是 research classification，不是 buy/sell。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所有事实性结论必须对应 evidence_id。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deterministic numbers 只能来自 tools，LLM 不能改。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报告可用于测试：schema validity、citation coverage、unsupported-claim rate。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7" name="Google Shape;67;p6"/>
          <p:cNvCxnSpPr/>
          <p:nvPr/>
        </p:nvCxnSpPr>
        <p:spPr>
          <a:xfrm>
            <a:off x="3749040" y="2249424"/>
            <a:ext cx="33832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6"/>
          <p:cNvCxnSpPr/>
          <p:nvPr/>
        </p:nvCxnSpPr>
        <p:spPr>
          <a:xfrm>
            <a:off x="7891272" y="3703320"/>
            <a:ext cx="33832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系统架构示意图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MCP Server 只负责数据与工具；LLM Agent Host 负责编排、审查和最终输出。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4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8" name="Google Shape;78;p7"/>
          <p:cNvCxnSpPr/>
          <p:nvPr/>
        </p:nvCxnSpPr>
        <p:spPr>
          <a:xfrm>
            <a:off x="1920240" y="3337560"/>
            <a:ext cx="822960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7"/>
          <p:cNvCxnSpPr/>
          <p:nvPr/>
        </p:nvCxnSpPr>
        <p:spPr>
          <a:xfrm>
            <a:off x="4709160" y="3337560"/>
            <a:ext cx="868680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7"/>
          <p:cNvCxnSpPr/>
          <p:nvPr/>
        </p:nvCxnSpPr>
        <p:spPr>
          <a:xfrm>
            <a:off x="7543800" y="3337560"/>
            <a:ext cx="868680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7"/>
          <p:cNvCxnSpPr/>
          <p:nvPr/>
        </p:nvCxnSpPr>
        <p:spPr>
          <a:xfrm rot="10800000">
            <a:off x="9555480" y="2377440"/>
            <a:ext cx="0" cy="457200"/>
          </a:xfrm>
          <a:prstGeom prst="straightConnector1">
            <a:avLst/>
          </a:prstGeom>
          <a:noFill/>
          <a:ln cap="flat" cmpd="sng" w="20300">
            <a:solidFill>
              <a:srgbClr val="00A6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7"/>
          <p:cNvCxnSpPr/>
          <p:nvPr/>
        </p:nvCxnSpPr>
        <p:spPr>
          <a:xfrm>
            <a:off x="9555480" y="3840480"/>
            <a:ext cx="0" cy="685800"/>
          </a:xfrm>
          <a:prstGeom prst="straightConnector1">
            <a:avLst/>
          </a:prstGeom>
          <a:noFill/>
          <a:ln cap="flat" cmpd="sng" w="20300">
            <a:solidFill>
              <a:srgbClr val="00A6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7"/>
          <p:cNvSpPr/>
          <p:nvPr/>
        </p:nvSpPr>
        <p:spPr>
          <a:xfrm>
            <a:off x="685800" y="2788920"/>
            <a:ext cx="12344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User / CLI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uv run finsight AAPL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743200" y="2606040"/>
            <a:ext cx="1965960" cy="1463040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LLM Agent Host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LangGraph workflow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577840" y="2606040"/>
            <a:ext cx="1965960" cy="1463040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Server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FinSight Equity Research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412480" y="1188720"/>
            <a:ext cx="2286000" cy="960120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External Data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Alpha Vantage + SEC EDGAR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8412480" y="4754880"/>
            <a:ext cx="2286000" cy="960120"/>
          </a:xfrm>
          <a:prstGeom prst="rect">
            <a:avLst/>
          </a:prstGeom>
          <a:solidFill>
            <a:srgbClr val="ECEBFF"/>
          </a:solidFill>
          <a:ln cap="flat" cmpd="sng" w="9525">
            <a:solidFill>
              <a:srgbClr val="E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Deterministic Analytics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returns / SMA / vol / drawdown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8412480" y="2788920"/>
            <a:ext cx="22860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Evidence Bundle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PRICE / TECH / FILING / NEWS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13232" y="48006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2F80ED"/>
                </a:solidFill>
                <a:latin typeface="Noto Sans"/>
                <a:ea typeface="Noto Sans"/>
                <a:cs typeface="Noto Sans"/>
                <a:sym typeface="Noto Sans"/>
              </a:rPr>
              <a:t>设计重点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731520" y="5120640"/>
            <a:ext cx="7132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是工具边界：数据、计算、evidence tracking 都由 server 提供。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Agent 不直接调用外部 API，只通过 MCP tools 获取 evidence。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Output schema 由 Pydantic 固定，降低 LLM 输出不可控性。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在项目里的角色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MCP = Model Context Protocol：把数据源、计算函数、提示词和资源暴露给 Agent Host。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5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22960" y="1417320"/>
            <a:ext cx="2103120" cy="502920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Tool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383280" y="1417320"/>
            <a:ext cx="2103120" cy="502920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Resource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943600" y="1417320"/>
            <a:ext cx="2103120" cy="502920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Prompt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503920" y="1417320"/>
            <a:ext cx="2331720" cy="502920"/>
          </a:xfrm>
          <a:prstGeom prst="rect">
            <a:avLst/>
          </a:prstGeom>
          <a:solidFill>
            <a:srgbClr val="ECEBFF"/>
          </a:solidFill>
          <a:ln cap="flat" cmpd="sng" w="9525">
            <a:solidFill>
              <a:srgbClr val="E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Server Instructions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932688" y="21488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可调用函数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例如 get_price_history、build_research_bundle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493008" y="21488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静态或半静态知识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例如 methodology://scoring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053328" y="2148840"/>
            <a:ext cx="1874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可复用任务模板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例如 equity_research_prompt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8613648" y="214884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全局行为约束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不交易、不编造、不改 deterministic values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234440" y="3749040"/>
            <a:ext cx="9692640" cy="150876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mcp = MCPServer(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"FinSight Equity Research",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instructions="Use tools to obtain current evidence..."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)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Noto Sans"/>
              <a:buNone/>
            </a:pPr>
            <a:r>
              <a:t/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@mcp.resource("methodology://scoring")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def scoring_methodology() -&gt; str: ...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Noto Sans"/>
              <a:buNone/>
            </a:pPr>
            <a:r>
              <a:t/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@mcp.prompt()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def equity_research_prompt(ticker: str) -&gt; str: ...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Tools：工具清单与职责边界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推荐把 LLM 需要的所有外部事实，先封装成稳定、可测试的 typed tools。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6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21792" y="1234440"/>
            <a:ext cx="2377440" cy="384048"/>
          </a:xfrm>
          <a:prstGeom prst="rect">
            <a:avLst/>
          </a:prstGeom>
          <a:solidFill>
            <a:srgbClr val="173B57"/>
          </a:solidFill>
          <a:ln cap="flat" cmpd="sng" w="9525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Tool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2999232" y="1234440"/>
            <a:ext cx="3657600" cy="384048"/>
          </a:xfrm>
          <a:prstGeom prst="rect">
            <a:avLst/>
          </a:prstGeom>
          <a:solidFill>
            <a:srgbClr val="173B57"/>
          </a:solidFill>
          <a:ln cap="flat" cmpd="sng" w="9525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职责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656832" y="1234440"/>
            <a:ext cx="2560320" cy="384048"/>
          </a:xfrm>
          <a:prstGeom prst="rect">
            <a:avLst/>
          </a:prstGeom>
          <a:solidFill>
            <a:srgbClr val="173B57"/>
          </a:solidFill>
          <a:ln cap="flat" cmpd="sng" w="9525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返回类型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9217152" y="1234440"/>
            <a:ext cx="2697480" cy="384048"/>
          </a:xfrm>
          <a:prstGeom prst="rect">
            <a:avLst/>
          </a:prstGeom>
          <a:solidFill>
            <a:srgbClr val="173B57"/>
          </a:solidFill>
          <a:ln cap="flat" cmpd="sng" w="9525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来源/计算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21792" y="1737360"/>
            <a:ext cx="23774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b="1"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get_price_history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2999232" y="1737360"/>
            <a:ext cx="36576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拉取 OHLCV 价格序列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656832" y="173736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PriceHistory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9217152" y="1737360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Alpha Vantage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21792" y="2350008"/>
            <a:ext cx="237744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b="1"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get_recent_news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999232" y="2350008"/>
            <a:ext cx="365760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拉取新闻、摘要、情绪元数据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656832" y="2350008"/>
            <a:ext cx="256032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NewsBundle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9217152" y="2350008"/>
            <a:ext cx="269748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Alpha Vantage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21792" y="2962656"/>
            <a:ext cx="23774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b="1"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get_company_facts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999232" y="2962656"/>
            <a:ext cx="36576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拉取 SEC XBRL standardized facts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656832" y="2962656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CompanyFactsSummary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9217152" y="2962656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SEC EDGAR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21792" y="3575304"/>
            <a:ext cx="237744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b="1"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get_technical_signals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999232" y="3575304"/>
            <a:ext cx="365760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计算 return / SMA / volatility / drawdown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656832" y="3575304"/>
            <a:ext cx="256032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TechnicalSignals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9217152" y="3575304"/>
            <a:ext cx="2697480" cy="47548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Python / NumPy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21792" y="4187952"/>
            <a:ext cx="23774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b="1"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build_research_bundle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999232" y="4187952"/>
            <a:ext cx="365760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并行整合价格、facts、news，并生成 evidence_id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656832" y="4187952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ResearchBundle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217152" y="4187952"/>
            <a:ext cx="26974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Core tool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5800" y="50749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2F80ED"/>
                </a:solidFill>
                <a:latin typeface="Noto Sans"/>
                <a:ea typeface="Noto Sans"/>
                <a:cs typeface="Noto Sans"/>
                <a:sym typeface="Noto Sans"/>
              </a:rPr>
              <a:t>设计原则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31520" y="544068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工具返回的是结构化对象，而不是任意字符串。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所有 deterministic analytics 在 Python 里完成，LLM 只解释，不重新计算。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build_research_bundle 是 Agent 的主入口：一次调用拿到完整 evidence set。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Agent Workflow：Draft → Critique → Finalize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不是让 LLM 一步生成答案，而是用多阶段流程让输出可检查、可收敛。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7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3127248" y="2075688"/>
            <a:ext cx="576072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10"/>
          <p:cNvCxnSpPr/>
          <p:nvPr/>
        </p:nvCxnSpPr>
        <p:spPr>
          <a:xfrm>
            <a:off x="6199632" y="2075688"/>
            <a:ext cx="56692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0"/>
          <p:cNvCxnSpPr/>
          <p:nvPr/>
        </p:nvCxnSpPr>
        <p:spPr>
          <a:xfrm>
            <a:off x="9235440" y="2075688"/>
            <a:ext cx="530352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0"/>
          <p:cNvSpPr/>
          <p:nvPr/>
        </p:nvSpPr>
        <p:spPr>
          <a:xfrm>
            <a:off x="868680" y="1417320"/>
            <a:ext cx="2240280" cy="1316736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Research Agent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调用 MCP tools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生成 DraftResearchReport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703320" y="1417320"/>
            <a:ext cx="2468880" cy="1316736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Critic Agent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检查 unsupported claims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检查 numeric inconsistencies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766560" y="1417320"/>
            <a:ext cx="2468880" cy="1316736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Finalizer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根据 critique 修订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强制 disclaimer + timestamp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9765792" y="1600200"/>
            <a:ext cx="1691640" cy="932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JSON Report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StockResearchReport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82302" y="2948892"/>
            <a:ext cx="9283500" cy="3346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 = StateGraph(WorkflowState)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builder.add_node("research", research_node)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builder.add_node("critic", critic_node)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builder.add_node("finalize", finalizer_node)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"/>
              <a:buNone/>
            </a:pPr>
            <a:r>
              <a:t/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builder.add_edge(START, "research")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builder.add_edge("research", "critic")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builder.add_edge("critic", "finalize")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Noto Sans Mono"/>
              <a:buNone/>
            </a:pPr>
            <a:r>
              <a:rPr lang="en-US" sz="105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builder.add_edge("finalize", END)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309360" y="3794760"/>
            <a:ext cx="4983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Research Agent 可以使用工具；Critic 和 Finalizer 使用 structured output。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Critic 不需要访问网页；它只审计 draft 与 evidence 的一致性。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final.generated_at 与 disclaimer 由代码覆盖，避免模型改写关键字段。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Code Structure：工程化目录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目录划分应对应数据、工具、Agent、schema、测试与运行入口。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8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85800" y="1234440"/>
            <a:ext cx="5532120" cy="470916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finsight_mcp_starter/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src/finsight_mcp/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server.py        # MCP tools / resources / prompts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cli.py           # command-line entry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schemas.py       # Pydantic contracts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evidence.py      # evidence_id generation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clients/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alpha_vantage.py  # price + news client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sec_edgar.py      # SEC facts client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analytics/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signals.py     # deterministic calculations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agent/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workflow.py    # LangGraph DAG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prompts.py     # safety prompts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tests/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629400" y="1325880"/>
            <a:ext cx="1920240" cy="365760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schemas.py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8823960" y="1344168"/>
            <a:ext cx="2423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定义输入/输出契约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使报告可验证、可测试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629400" y="2313432"/>
            <a:ext cx="1920240" cy="365760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server.py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823960" y="2331720"/>
            <a:ext cx="2423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暴露 MCP tools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封装数据源与计算边界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629400" y="3300984"/>
            <a:ext cx="1920240" cy="365760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workflow.py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823960" y="3319272"/>
            <a:ext cx="2423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编排 research / critic / finalizer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形成可解释 Agent pipeline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629400" y="4288536"/>
            <a:ext cx="1920240" cy="365760"/>
          </a:xfrm>
          <a:prstGeom prst="rect">
            <a:avLst/>
          </a:prstGeom>
          <a:solidFill>
            <a:srgbClr val="ECEBFF"/>
          </a:solidFill>
          <a:ln cap="flat" cmpd="sng" w="9525">
            <a:solidFill>
              <a:srgbClr val="E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tests/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823960" y="4306824"/>
            <a:ext cx="2423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验证 signals bounded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70"/>
              <a:buFont typeface="Noto Sans"/>
              <a:buNone/>
            </a:pPr>
            <a:r>
              <a:rPr lang="en-US" sz="117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验证 evidence IDs unique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Code Sample 1：核心 MCP Tool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build_research_bundle 是 Agent 的主入口：并行取数、计算指标、生成 evidence。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9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85800" y="1234453"/>
            <a:ext cx="9333000" cy="62664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@mcp.tool()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async def build_research_bundle(ticker: str) -&gt; ResearchBundle: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symbol = ticker.upper()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None/>
            </a:pPr>
            <a:r>
              <a:t/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prices, facts, news = await asyncio.gather(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_prices(symbol, 100),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_facts(symbol),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_news(symbol, limit=8),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None/>
            </a:pPr>
            <a:r>
              <a:t/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technicals = calculate_technical_signals(prices)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evidence = build_evidence(prices, technicals, facts, news)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None/>
            </a:pPr>
            <a:r>
              <a:t/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return ResearchBundle(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ticker=symbol,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technicals=technicals,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company_facts=facts,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news=news,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evidence=evidence,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Noto Sans Mono"/>
              <a:buNone/>
            </a:pPr>
            <a:r>
              <a:rPr lang="en-US" sz="100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)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7086600" y="13258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2F80ED"/>
                </a:solidFill>
                <a:latin typeface="Noto Sans"/>
                <a:ea typeface="Noto Sans"/>
                <a:cs typeface="Noto Sans"/>
                <a:sym typeface="Noto Sans"/>
              </a:rPr>
              <a:t>这段代码体现什么能力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7132320" y="1737360"/>
            <a:ext cx="42519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异步并行数据获取：减少等待时间。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结构化返回：ResearchBundle 是 typed contract。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工具边界清晰：LLM 看到的是 evidence，不是原始 API 细节。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可扩展：未来可以增加 caching、retry、rate limiting。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7132320" y="4069080"/>
            <a:ext cx="1828800" cy="411480"/>
          </a:xfrm>
          <a:prstGeom prst="rect">
            <a:avLst/>
          </a:prstGeom>
          <a:solidFill>
            <a:srgbClr val="173B57"/>
          </a:solidFill>
          <a:ln cap="flat" cmpd="sng" w="9525">
            <a:solidFill>
              <a:srgbClr val="173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Resume signal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7150608" y="4617720"/>
            <a:ext cx="3886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220"/>
              <a:buFont typeface="Noto Sans"/>
              <a:buNone/>
            </a:pPr>
            <a:r>
              <a:rPr lang="en-US" sz="122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“Built an MCP server exposing typed financial-data tools and deterministic analytics for an evidence-grounded LLM research agent.”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Code Sample 2：Structured Output + Safety Prompt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用 Pydantic schema 固定 LLM 输出格式，用 prompt 约束事实、风险和边界。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10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85800" y="1234440"/>
            <a:ext cx="5166360" cy="393192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class DraftResearchReport(BaseModel):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ticker: str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overall_score: int = Field(ge=0, le=100)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classification: Literal[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"positive_watchlist_candidate",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"neutral_monitor",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    "elevated_risk",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confidence: Literal["low", "medium", "high"]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summary: str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catalysts: list[str]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risks: list[str]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citations: list[Citation]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20"/>
              <a:buFont typeface="Noto Sans Mono"/>
              <a:buNone/>
            </a:pPr>
            <a:r>
              <a:rPr lang="en-US" sz="102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    data_gaps: list[str]</a:t>
            </a:r>
            <a:endParaRPr sz="10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172200" y="1234440"/>
            <a:ext cx="5257800" cy="224028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RESEARCH_SYSTEM_PROMPT = """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1. Call build_research_bundle first.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2. Treat deterministic tool values as authoritative.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3. Support every material factual claim with evidence IDs.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4. Include downside risks and data limitations.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5. Never issue personalized advice or a buy/sell command.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30"/>
              <a:buFont typeface="Noto Sans Mono"/>
              <a:buNone/>
            </a:pPr>
            <a:r>
              <a:rPr lang="en-US" sz="1030">
                <a:solidFill>
                  <a:srgbClr val="E5E7EB"/>
                </a:solidFill>
                <a:latin typeface="Noto Sans Mono"/>
                <a:ea typeface="Noto Sans Mono"/>
                <a:cs typeface="Noto Sans Mono"/>
                <a:sym typeface="Noto Sans Mono"/>
              </a:rPr>
              <a:t>"""</a:t>
            </a:r>
            <a:endParaRPr sz="10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6263640" y="3977640"/>
            <a:ext cx="4800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schema 让 output 能直接用于测试、存储或后续网页展示。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classification 避免“买/卖”措辞，降低 financial-advice 风险。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citations 字段强制保留证据链，方便评估 hallucination。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566928" y="32004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交付计划与简历表达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585216" y="786384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Noto Sans"/>
              <a:buNone/>
            </a:pPr>
            <a:r>
              <a:rPr lang="en-US" sz="1250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先完成 backend / MCP / agent MVP，再决定是否加前端或批量 watchlist。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66928" y="65105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Noto Sans"/>
              <a:buNone/>
            </a:pPr>
            <a:r>
              <a:rPr lang="en-US" sz="850">
                <a:solidFill>
                  <a:srgbClr val="9CA3AF"/>
                </a:solidFill>
                <a:latin typeface="Noto Sans"/>
                <a:ea typeface="Noto Sans"/>
                <a:cs typeface="Noto Sans"/>
                <a:sym typeface="Noto Sans"/>
              </a:rPr>
              <a:t>FinSight MCP Agent MVP  ·  11</a:t>
            </a:r>
            <a:endParaRPr sz="8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685800" y="1325880"/>
            <a:ext cx="2286000" cy="438912"/>
          </a:xfrm>
          <a:prstGeom prst="rect">
            <a:avLst/>
          </a:prstGeom>
          <a:solidFill>
            <a:srgbClr val="DCEBFF"/>
          </a:solidFill>
          <a:ln cap="flat" cmpd="sng" w="9525">
            <a:solidFill>
              <a:srgbClr val="D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Week 1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795528" y="1874520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MCP Server + data clients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Alpha Vantage / SEC EDGAR / schemas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17" name="Google Shape;217;p14"/>
          <p:cNvCxnSpPr/>
          <p:nvPr/>
        </p:nvCxnSpPr>
        <p:spPr>
          <a:xfrm>
            <a:off x="2990088" y="1545336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14"/>
          <p:cNvSpPr/>
          <p:nvPr/>
        </p:nvSpPr>
        <p:spPr>
          <a:xfrm>
            <a:off x="3474720" y="1325880"/>
            <a:ext cx="2286000" cy="438912"/>
          </a:xfrm>
          <a:prstGeom prst="rect">
            <a:avLst/>
          </a:prstGeom>
          <a:solidFill>
            <a:srgbClr val="EAF7EF"/>
          </a:solidFill>
          <a:ln cap="flat" cmpd="sng" w="9525">
            <a:solidFill>
              <a:srgbClr val="EAF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Week 2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584448" y="1874520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Deterministic analytics + evidence tracking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unit tests for signals and evidence_id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20" name="Google Shape;220;p14"/>
          <p:cNvCxnSpPr/>
          <p:nvPr/>
        </p:nvCxnSpPr>
        <p:spPr>
          <a:xfrm>
            <a:off x="5779008" y="1545336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14"/>
          <p:cNvSpPr/>
          <p:nvPr/>
        </p:nvSpPr>
        <p:spPr>
          <a:xfrm>
            <a:off x="6263640" y="1325880"/>
            <a:ext cx="2286000" cy="438912"/>
          </a:xfrm>
          <a:prstGeom prst="rect">
            <a:avLst/>
          </a:prstGeom>
          <a:solidFill>
            <a:srgbClr val="FFF1DA"/>
          </a:solidFill>
          <a:ln cap="flat" cmpd="sng" w="9525">
            <a:solidFill>
              <a:srgbClr val="FFF1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Week 3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6373368" y="1874520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LangGraph agent workflow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research → critic → finalizer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23" name="Google Shape;223;p14"/>
          <p:cNvCxnSpPr/>
          <p:nvPr/>
        </p:nvCxnSpPr>
        <p:spPr>
          <a:xfrm>
            <a:off x="8567928" y="1545336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14"/>
          <p:cNvSpPr/>
          <p:nvPr/>
        </p:nvSpPr>
        <p:spPr>
          <a:xfrm>
            <a:off x="9052560" y="1325880"/>
            <a:ext cx="2286000" cy="438912"/>
          </a:xfrm>
          <a:prstGeom prst="rect">
            <a:avLst/>
          </a:prstGeom>
          <a:solidFill>
            <a:srgbClr val="ECEBFF"/>
          </a:solidFill>
          <a:ln cap="flat" cmpd="sng" w="9525">
            <a:solidFill>
              <a:srgbClr val="EC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Week 4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9162288" y="1874520"/>
            <a:ext cx="2084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Evaluation + README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238"/>
              </a:buClr>
              <a:buSzPts val="1160"/>
              <a:buFont typeface="Noto Sans"/>
              <a:buNone/>
            </a:pPr>
            <a:r>
              <a:rPr lang="en-US" sz="116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schema validity / citation coverage / demo JSON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13232" y="36576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2F80ED"/>
                </a:solidFill>
                <a:latin typeface="Noto Sans"/>
                <a:ea typeface="Noto Sans"/>
                <a:cs typeface="Noto Sans"/>
                <a:sym typeface="Noto Sans"/>
              </a:rPr>
              <a:t>最终简历 bullet 示例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749808" y="4050792"/>
            <a:ext cx="108356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Built FinSight, an MCP-powered equity research agent integrating market data, SEC filings, deterministic technical signals, and evidence-grounded LLM summarization.</a:t>
            </a:r>
            <a:endParaRPr sz="12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Implemented a LangGraph workflow with Research, Critic, and Finalizer agents, enforcing structured Pydantic outputs, citation tracking, and risk-aware report generation.</a:t>
            </a:r>
            <a:endParaRPr sz="12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>
                <a:solidFill>
                  <a:srgbClr val="132238"/>
                </a:solidFill>
                <a:latin typeface="Noto Sans"/>
                <a:ea typeface="Noto Sans"/>
                <a:cs typeface="Noto Sans"/>
                <a:sym typeface="Noto Sans"/>
              </a:rPr>
              <a:t>Developed typed MCP tools for price history, news, company facts, technical indicators, and research-bundle generation; added tests for bounded analytics and unique evidence IDs.</a:t>
            </a:r>
            <a:endParaRPr sz="12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